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10" r:id="rId6"/>
    <p:sldId id="1301"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292" y="40"/>
      </p:cViewPr>
      <p:guideLst>
        <p:guide orient="horz" pos="792"/>
        <p:guide pos="192"/>
        <p:guide orient="horz" pos="10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datasets/jsphyg/weather-dataset-rattle-package" TargetMode="External"/><Relationship Id="rId7" Type="http://schemas.openxmlformats.org/officeDocument/2006/relationships/hyperlink" Target="https://github.com/topics/weather-predictio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python.org/" TargetMode="External"/><Relationship Id="rId5" Type="http://schemas.openxmlformats.org/officeDocument/2006/relationships/hyperlink" Target="https://colab.research.google.com/" TargetMode="External"/><Relationship Id="rId4" Type="http://schemas.openxmlformats.org/officeDocument/2006/relationships/hyperlink" Target="https://www.ncei.noaa.gov/acces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563526" y="707886"/>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6155463" y="2531278"/>
            <a:ext cx="5081625" cy="707886"/>
          </a:xfrm>
          <a:prstGeom prst="rect">
            <a:avLst/>
          </a:prstGeom>
          <a:noFill/>
        </p:spPr>
        <p:txBody>
          <a:bodyPr wrap="square" rtlCol="0">
            <a:spAutoFit/>
          </a:bodyPr>
          <a:lstStyle/>
          <a:p>
            <a:pPr algn="r"/>
            <a:r>
              <a:rPr lang="en-US" sz="4000" b="1">
                <a:solidFill>
                  <a:schemeClr val="bg1"/>
                </a:solidFill>
                <a:latin typeface="Arial" panose="020B0604020202020204" pitchFamily="34" charset="0"/>
                <a:cs typeface="Arial" panose="020B0604020202020204" pitchFamily="34" charset="0"/>
              </a:rPr>
              <a:t>Rainfall Using SVM</a:t>
            </a: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7" name="TextBox 6">
            <a:extLst>
              <a:ext uri="{FF2B5EF4-FFF2-40B4-BE49-F238E27FC236}">
                <a16:creationId xmlns:a16="http://schemas.microsoft.com/office/drawing/2014/main" id="{B9738CDF-1E73-25F6-96CA-598F00E90F2D}"/>
              </a:ext>
            </a:extLst>
          </p:cNvPr>
          <p:cNvSpPr txBox="1"/>
          <p:nvPr/>
        </p:nvSpPr>
        <p:spPr>
          <a:xfrm>
            <a:off x="6013887" y="4136886"/>
            <a:ext cx="4393325" cy="2678234"/>
          </a:xfrm>
          <a:prstGeom prst="rect">
            <a:avLst/>
          </a:prstGeom>
          <a:noFill/>
        </p:spPr>
        <p:txBody>
          <a:bodyPr wrap="square" rtlCol="0">
            <a:spAutoFit/>
          </a:bodyPr>
          <a:lstStyle/>
          <a:p>
            <a:r>
              <a:rPr lang="en-US" dirty="0">
                <a:solidFill>
                  <a:schemeClr val="bg1"/>
                </a:solidFill>
              </a:rPr>
              <a:t>University :- </a:t>
            </a:r>
            <a:r>
              <a:rPr lang="en-US" b="1" dirty="0">
                <a:solidFill>
                  <a:schemeClr val="bg1"/>
                </a:solidFill>
                <a:latin typeface="Bell MT" panose="02020503060305020303" pitchFamily="18" charset="0"/>
              </a:rPr>
              <a:t>Atmiya University</a:t>
            </a:r>
          </a:p>
          <a:p>
            <a:endParaRPr lang="en-US" dirty="0">
              <a:solidFill>
                <a:schemeClr val="bg1"/>
              </a:solidFill>
              <a:latin typeface="Bell MT" panose="02020503060305020303" pitchFamily="18" charset="0"/>
            </a:endParaRPr>
          </a:p>
          <a:p>
            <a:r>
              <a:rPr lang="en-US" dirty="0">
                <a:solidFill>
                  <a:schemeClr val="bg1"/>
                </a:solidFill>
              </a:rPr>
              <a:t>Name:- </a:t>
            </a:r>
            <a:r>
              <a:rPr lang="en-IN" dirty="0">
                <a:solidFill>
                  <a:schemeClr val="bg1"/>
                </a:solidFill>
              </a:rPr>
              <a:t>  </a:t>
            </a:r>
            <a:r>
              <a:rPr lang="en-IN" dirty="0" err="1">
                <a:solidFill>
                  <a:schemeClr val="bg1"/>
                </a:solidFill>
                <a:latin typeface="Bodoni MT" panose="02070603080606020203" pitchFamily="18" charset="0"/>
              </a:rPr>
              <a:t>Akabari</a:t>
            </a:r>
            <a:r>
              <a:rPr lang="en-IN" dirty="0">
                <a:solidFill>
                  <a:schemeClr val="bg1"/>
                </a:solidFill>
                <a:latin typeface="Bodoni MT" panose="02070603080606020203" pitchFamily="18" charset="0"/>
              </a:rPr>
              <a:t> </a:t>
            </a:r>
            <a:r>
              <a:rPr lang="en-IN">
                <a:solidFill>
                  <a:schemeClr val="bg1"/>
                </a:solidFill>
                <a:latin typeface="Bodoni MT" panose="02070603080606020203" pitchFamily="18" charset="0"/>
              </a:rPr>
              <a:t>Mohini</a:t>
            </a:r>
            <a:r>
              <a:rPr lang="en-US" b="1">
                <a:solidFill>
                  <a:schemeClr val="bg1">
                    <a:lumMod val="75000"/>
                  </a:schemeClr>
                </a:solidFill>
                <a:latin typeface="Bodoni MT" panose="02070603080606020203" pitchFamily="18" charset="0"/>
              </a:rPr>
              <a:t>(</a:t>
            </a:r>
            <a:r>
              <a:rPr lang="en-US" b="1" dirty="0">
                <a:solidFill>
                  <a:schemeClr val="bg1">
                    <a:lumMod val="75000"/>
                  </a:schemeClr>
                </a:solidFill>
                <a:latin typeface="Bodoni MT" panose="02070603080606020203" pitchFamily="18" charset="0"/>
              </a:rPr>
              <a:t>Team  Leader)</a:t>
            </a:r>
          </a:p>
          <a:p>
            <a:pPr lvl="4"/>
            <a:r>
              <a:rPr lang="en-US" dirty="0">
                <a:solidFill>
                  <a:schemeClr val="bg1"/>
                </a:solidFill>
                <a:latin typeface="Bodoni MT" panose="02070603080606020203" pitchFamily="18" charset="0"/>
              </a:rPr>
              <a:t>	</a:t>
            </a:r>
            <a:r>
              <a:rPr lang="en-IN" dirty="0">
                <a:solidFill>
                  <a:schemeClr val="bg1"/>
                </a:solidFill>
                <a:latin typeface="Bodoni MT" panose="02070603080606020203" pitchFamily="18" charset="0"/>
              </a:rPr>
              <a:t> Parekh </a:t>
            </a:r>
            <a:r>
              <a:rPr lang="en-IN" dirty="0" err="1">
                <a:solidFill>
                  <a:schemeClr val="bg1"/>
                </a:solidFill>
                <a:latin typeface="Bodoni MT" panose="02070603080606020203" pitchFamily="18" charset="0"/>
              </a:rPr>
              <a:t>Vrushti</a:t>
            </a:r>
            <a:endParaRPr lang="en-US" dirty="0">
              <a:solidFill>
                <a:schemeClr val="bg1"/>
              </a:solidFill>
              <a:latin typeface="Bodoni MT" panose="02070603080606020203" pitchFamily="18" charset="0"/>
            </a:endParaRPr>
          </a:p>
          <a:p>
            <a:pPr lvl="4"/>
            <a:r>
              <a:rPr lang="en-US" dirty="0">
                <a:solidFill>
                  <a:schemeClr val="bg1"/>
                </a:solidFill>
                <a:latin typeface="Bodoni MT" panose="02070603080606020203" pitchFamily="18" charset="0"/>
              </a:rPr>
              <a:t>	</a:t>
            </a:r>
            <a:r>
              <a:rPr lang="en-IN" dirty="0">
                <a:solidFill>
                  <a:schemeClr val="bg1"/>
                </a:solidFill>
                <a:latin typeface="Bodoni MT" panose="02070603080606020203" pitchFamily="18" charset="0"/>
              </a:rPr>
              <a:t> Gupta </a:t>
            </a:r>
            <a:r>
              <a:rPr lang="en-IN" dirty="0" err="1">
                <a:solidFill>
                  <a:schemeClr val="bg1"/>
                </a:solidFill>
                <a:latin typeface="Bodoni MT" panose="02070603080606020203" pitchFamily="18" charset="0"/>
              </a:rPr>
              <a:t>Yashasvi</a:t>
            </a:r>
            <a:endParaRPr lang="en-US" dirty="0">
              <a:solidFill>
                <a:schemeClr val="bg1"/>
              </a:solidFill>
              <a:latin typeface="Bodoni MT" panose="02070603080606020203" pitchFamily="18" charset="0"/>
            </a:endParaRPr>
          </a:p>
          <a:p>
            <a:pPr lvl="4"/>
            <a:r>
              <a:rPr lang="en-US" dirty="0">
                <a:solidFill>
                  <a:schemeClr val="bg1"/>
                </a:solidFill>
                <a:latin typeface="Bodoni MT" panose="02070603080606020203" pitchFamily="18" charset="0"/>
              </a:rPr>
              <a:t>	</a:t>
            </a:r>
            <a:r>
              <a:rPr lang="en-IN" dirty="0">
                <a:solidFill>
                  <a:schemeClr val="bg1"/>
                </a:solidFill>
                <a:latin typeface="Bodoni MT" panose="02070603080606020203" pitchFamily="18" charset="0"/>
              </a:rPr>
              <a:t> Patel </a:t>
            </a:r>
            <a:r>
              <a:rPr lang="en-IN" dirty="0" err="1">
                <a:solidFill>
                  <a:schemeClr val="bg1"/>
                </a:solidFill>
                <a:latin typeface="Bodoni MT" panose="02070603080606020203" pitchFamily="18" charset="0"/>
              </a:rPr>
              <a:t>Khushi</a:t>
            </a:r>
            <a:endParaRPr lang="en-US" dirty="0">
              <a:solidFill>
                <a:schemeClr val="bg1"/>
              </a:solidFill>
              <a:latin typeface="Bodoni MT" panose="02070603080606020203" pitchFamily="18" charset="0"/>
            </a:endParaRPr>
          </a:p>
          <a:p>
            <a:pPr lvl="4"/>
            <a:r>
              <a:rPr lang="en-US" dirty="0">
                <a:solidFill>
                  <a:schemeClr val="bg1"/>
                </a:solidFill>
                <a:latin typeface="Bodoni MT" panose="02070603080606020203" pitchFamily="18" charset="0"/>
              </a:rPr>
              <a:t>	</a:t>
            </a:r>
            <a:r>
              <a:rPr lang="en-IN" dirty="0">
                <a:solidFill>
                  <a:schemeClr val="bg1"/>
                </a:solidFill>
                <a:latin typeface="Bodoni MT" panose="02070603080606020203" pitchFamily="18" charset="0"/>
              </a:rPr>
              <a:t> </a:t>
            </a:r>
            <a:r>
              <a:rPr lang="en-IN" dirty="0" err="1">
                <a:solidFill>
                  <a:schemeClr val="bg1"/>
                </a:solidFill>
                <a:latin typeface="Bodoni MT" panose="02070603080606020203" pitchFamily="18" charset="0"/>
              </a:rPr>
              <a:t>Bhadresha</a:t>
            </a:r>
            <a:r>
              <a:rPr lang="en-IN" dirty="0">
                <a:solidFill>
                  <a:schemeClr val="bg1"/>
                </a:solidFill>
                <a:latin typeface="Bodoni MT" panose="02070603080606020203" pitchFamily="18" charset="0"/>
              </a:rPr>
              <a:t> </a:t>
            </a:r>
            <a:r>
              <a:rPr lang="en-IN" dirty="0" err="1">
                <a:solidFill>
                  <a:schemeClr val="bg1"/>
                </a:solidFill>
                <a:latin typeface="Bodoni MT" panose="02070603080606020203" pitchFamily="18" charset="0"/>
              </a:rPr>
              <a:t>Birva</a:t>
            </a:r>
            <a:endParaRPr lang="en-US" dirty="0">
              <a:solidFill>
                <a:schemeClr val="bg1"/>
              </a:solidFill>
            </a:endParaRPr>
          </a:p>
          <a:p>
            <a:pPr lvl="4"/>
            <a:endParaRPr lang="en-US" dirty="0">
              <a:solidFill>
                <a:schemeClr val="bg1"/>
              </a:solidFill>
            </a:endParaRPr>
          </a:p>
          <a:p>
            <a:r>
              <a:rPr lang="en-US" dirty="0">
                <a:solidFill>
                  <a:schemeClr val="bg1"/>
                </a:solidFill>
              </a:rPr>
              <a:t>Date :-    </a:t>
            </a:r>
            <a:r>
              <a:rPr lang="en-US" dirty="0">
                <a:solidFill>
                  <a:schemeClr val="bg1"/>
                </a:solidFill>
                <a:latin typeface="Bell MT" panose="02020503060305020303" pitchFamily="18" charset="0"/>
              </a:rPr>
              <a:t>09</a:t>
            </a:r>
            <a:r>
              <a:rPr lang="en-US" baseline="30000" dirty="0">
                <a:solidFill>
                  <a:schemeClr val="bg1"/>
                </a:solidFill>
                <a:latin typeface="Bell MT" panose="02020503060305020303" pitchFamily="18" charset="0"/>
              </a:rPr>
              <a:t>th</a:t>
            </a:r>
            <a:r>
              <a:rPr lang="en-US" dirty="0">
                <a:solidFill>
                  <a:schemeClr val="bg1"/>
                </a:solidFill>
                <a:latin typeface="Bell MT" panose="02020503060305020303" pitchFamily="18" charset="0"/>
              </a:rPr>
              <a:t> January 2026</a:t>
            </a:r>
            <a:endParaRPr lang="en-IN" dirty="0">
              <a:solidFill>
                <a:schemeClr val="bg1"/>
              </a:solidFill>
              <a:latin typeface="Bell MT" panose="02020503060305020303" pitchFamily="18" charset="0"/>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3915308" y="1513114"/>
            <a:ext cx="9484189" cy="485072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a:t>Dataset Overview</a:t>
            </a:r>
          </a:p>
          <a:p>
            <a:r>
              <a:rPr lang="en-US"/>
              <a:t>The dataset used for this project contains historical weather information collected to predict rainfall. Each record in the dataset represents weather conditions observed on a particular day. The dataset includes multiple meteorological parameters that influence rainfall.</a:t>
            </a:r>
          </a:p>
          <a:p>
            <a:r>
              <a:rPr lang="en-US"/>
              <a:t>The main input features in the dataset are </a:t>
            </a:r>
            <a:r>
              <a:rPr lang="en-US" b="1"/>
              <a:t>Temperature, Humidity, Atmospheric Pressure, Wind Speed, and Cloud Cover</a:t>
            </a:r>
            <a:r>
              <a:rPr lang="en-US"/>
              <a:t>. These features describe the environmental conditions of the atmosphere. The target variable is </a:t>
            </a:r>
            <a:r>
              <a:rPr lang="en-US" b="1"/>
              <a:t>Rainfall</a:t>
            </a:r>
            <a:r>
              <a:rPr lang="en-US"/>
              <a:t>, which indicates whether rainfall occurred (Yes/No) or the amount of rainfall received.</a:t>
            </a:r>
          </a:p>
          <a:p>
            <a:r>
              <a:rPr lang="en-US"/>
              <a:t>Before applying the Support Vector Machine (SVM) algorithm, the dataset is analyzed to identify missing values and inconsistencies. Data preprocessing steps such as cleaning, feature selection, and scaling are performed to improve model performance. Feature scaling is especially important because SVM is sensitive to the range of input values.</a:t>
            </a:r>
          </a:p>
          <a:p>
            <a:r>
              <a:rPr lang="en-US"/>
              <a:t>The dataset is then divided into training and testing sets. The training data is used to train the SVM model, while the testing data is used to evaluate its accuracy. This dataset plays a crucial role in building an effective rainfall prediction model.</a:t>
            </a:r>
          </a:p>
          <a:p>
            <a:endParaRPr lang="en-US"/>
          </a:p>
          <a:p>
            <a:endParaRPr lang="en-US"/>
          </a:p>
        </p:txBody>
      </p:sp>
    </p:spTree>
    <p:extLst>
      <p:ext uri="{BB962C8B-B14F-4D97-AF65-F5344CB8AC3E}">
        <p14:creationId xmlns:p14="http://schemas.microsoft.com/office/powerpoint/2010/main" val="147937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0" y="1638914"/>
            <a:ext cx="11989930" cy="521908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a:t>Brief Overview</a:t>
            </a:r>
          </a:p>
          <a:p>
            <a:r>
              <a:rPr lang="en-US"/>
              <a:t>Rainfall prediction is an important problem in weather forecasting, agriculture planning, water resource management, and disaster prevention. Accurate prediction of rainfall helps farmers plan crops, helps governments manage floods and droughts, and supports daily decision-making for the public.</a:t>
            </a:r>
          </a:p>
          <a:p>
            <a:r>
              <a:rPr lang="en-US"/>
              <a:t>This case study focuses on predicting rainfall using </a:t>
            </a:r>
            <a:r>
              <a:rPr lang="en-US" b="1"/>
              <a:t>machine learning techniques</a:t>
            </a:r>
            <a:r>
              <a:rPr lang="en-US"/>
              <a:t>, specifically the </a:t>
            </a:r>
            <a:r>
              <a:rPr lang="en-US" b="1"/>
              <a:t>Support Vector Machine (SVM) algorithm</a:t>
            </a:r>
            <a:r>
              <a:rPr lang="en-US"/>
              <a:t>. The prediction is based on historical weather data such as temperature, humidity, atmospheric pressure, wind speed, and cloud cover. These parameters play a significant role in determining rainfall patterns.</a:t>
            </a:r>
          </a:p>
          <a:p>
            <a:r>
              <a:rPr lang="en-US"/>
              <a:t>Traditional weather prediction methods can be complex and time-consuming. Machine learning provides a data-driven approach that can analyze large datasets efficiently and identify hidden patterns. In this study, SVM is used to classify whether rainfall will occur or not based on given weather conditions.</a:t>
            </a:r>
          </a:p>
          <a:p>
            <a:endParaRPr lang="en-US"/>
          </a:p>
          <a:p>
            <a:r>
              <a:rPr lang="en-US" b="1"/>
              <a:t>Key Objectives</a:t>
            </a:r>
          </a:p>
          <a:p>
            <a:r>
              <a:rPr lang="en-US"/>
              <a:t>To analyze historical weather data and understand the factors affecting rainfall</a:t>
            </a:r>
          </a:p>
          <a:p>
            <a:r>
              <a:rPr lang="en-US"/>
              <a:t>To preprocess the dataset by handling missing values and scaling features</a:t>
            </a:r>
          </a:p>
          <a:p>
            <a:r>
              <a:rPr lang="en-US"/>
              <a:t>To apply the Support Vector Machine (SVM) algorithm for rainfall prediction</a:t>
            </a:r>
          </a:p>
          <a:p>
            <a:r>
              <a:rPr lang="en-US"/>
              <a:t>To classify rainfall occurrence based on meteorological parameters</a:t>
            </a:r>
          </a:p>
          <a:p>
            <a:r>
              <a:rPr lang="en-US"/>
              <a:t>To evaluate the performance of the model using accuracy metrics</a:t>
            </a:r>
          </a:p>
          <a:p>
            <a:endParaRPr lang="en-US"/>
          </a:p>
          <a:p>
            <a:endParaRPr lang="en-US"/>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Problem Statement</a:t>
            </a:r>
            <a:endParaRPr lang="en-IN" sz="2000">
              <a:solidFill>
                <a:srgbClr val="213163"/>
              </a:solidFill>
            </a:endParaRPr>
          </a:p>
        </p:txBody>
      </p:sp>
    </p:spTree>
    <p:extLst>
      <p:ext uri="{BB962C8B-B14F-4D97-AF65-F5344CB8AC3E}">
        <p14:creationId xmlns:p14="http://schemas.microsoft.com/office/powerpoint/2010/main"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12700" y="1729931"/>
            <a:ext cx="12192000" cy="5128069"/>
          </a:xfrm>
          <a:prstGeom prst="rect">
            <a:avLst/>
          </a:prstGeom>
        </p:spPr>
        <p:txBody>
          <a:bodyPr lIns="91440" tIns="45720" rIns="91440" bIns="45720" anchor="t">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a:t>Approach</a:t>
            </a:r>
          </a:p>
          <a:p>
            <a:r>
              <a:rPr lang="en-US"/>
              <a:t>The first step is to collect and load the historical weather dataset. The dataset is then explored to understand the structure, features, and target variable. Missing values and irrelevant data are handled during preprocessing to ensure data quality.</a:t>
            </a:r>
          </a:p>
          <a:p>
            <a:r>
              <a:rPr lang="en-US"/>
              <a:t>Next, important weather parameters such as temperature, humidity, pressure, wind speed, and cloud cover are selected as input features. Since Support Vector Machine is sensitive to feature scales, data normalization or standardization is applied.</a:t>
            </a:r>
          </a:p>
          <a:p>
            <a:endParaRPr lang="en-US"/>
          </a:p>
          <a:p>
            <a:r>
              <a:rPr lang="en-US" b="1"/>
              <a:t>Algorithms Used</a:t>
            </a:r>
          </a:p>
          <a:p>
            <a:r>
              <a:rPr lang="en-US" b="1"/>
              <a:t>Support Vector Machine (SVM)</a:t>
            </a:r>
            <a:r>
              <a:rPr lang="en-US"/>
              <a:t> is used as the main machine learning algorithm. SVM is effective for classification problems and works well with high-dimensional data. It finds an optimal decision boundary that separates rainfall and non-rainfall conditions with maximum margin.</a:t>
            </a:r>
          </a:p>
          <a:p>
            <a:r>
              <a:rPr lang="en-US" sz="1850"/>
              <a:t>SVM is chosen because it provides good accuracy, handles non-linear data using kernel functions, and performs well even with limited datasets.</a:t>
            </a:r>
          </a:p>
          <a:p>
            <a:endParaRPr lang="en-US" sz="1850" b="1"/>
          </a:p>
          <a:p>
            <a:r>
              <a:rPr lang="en-US" sz="1850" b="1"/>
              <a:t>Evaluation Metrics</a:t>
            </a:r>
            <a:endParaRPr lang="en-US" sz="1850"/>
          </a:p>
          <a:p>
            <a:r>
              <a:rPr lang="en-US"/>
              <a:t>To evaluate the performance of the model, </a:t>
            </a:r>
            <a:r>
              <a:rPr lang="en-US" b="1"/>
              <a:t>Accuracy</a:t>
            </a:r>
            <a:r>
              <a:rPr lang="en-US"/>
              <a:t> is primarily used. Accuracy measures how many predictions </a:t>
            </a:r>
          </a:p>
          <a:p>
            <a:r>
              <a:rPr lang="en-US" sz="1850"/>
              <a:t>are correctly classified by the model.</a:t>
            </a:r>
          </a:p>
          <a:p>
            <a:endParaRPr lang="en-US"/>
          </a:p>
        </p:txBody>
      </p:sp>
      <p:sp>
        <p:nvSpPr>
          <p:cNvPr id="5" name="TextBox 4">
            <a:extLst>
              <a:ext uri="{FF2B5EF4-FFF2-40B4-BE49-F238E27FC236}">
                <a16:creationId xmlns:a16="http://schemas.microsoft.com/office/drawing/2014/main" id="{0A86DC2D-04B5-6DF2-25D3-F5C8914AB624}"/>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0" y="1825624"/>
            <a:ext cx="12192000" cy="5032373"/>
          </a:xfrm>
          <a:prstGeom prst="rect">
            <a:avLst/>
          </a:prstGeom>
        </p:spPr>
        <p:txBody>
          <a:bodyPr>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t>Model Performance:</a:t>
            </a:r>
          </a:p>
          <a:p>
            <a:r>
              <a:rPr lang="en-US"/>
              <a:t>The performance of the rainfall prediction model is evaluated using standard classification metrics. The Support Vector Machine (SVM) model achieved good accuracy in predicting rainfall occurrence based on weather parameters. Accuracy indicates the overall correctness of the model’s predictions.</a:t>
            </a:r>
          </a:p>
          <a:p>
            <a:r>
              <a:rPr lang="en-US"/>
              <a:t>Precision and recall are used to measure how effectively the model identifies rainfall events. Precision shows how many predicted rainfall cases were actually correct, while recall indicates how well the model detects actual rainfall occurrences. The F1-score provides a balanced measure of precision and recall, confirming the reliability of the model.</a:t>
            </a:r>
          </a:p>
          <a:p>
            <a:r>
              <a:rPr lang="en-US"/>
              <a:t>Overall, the results show that SVM is effective in classifying rainfall and non-rainfall conditions with consistent performance.</a:t>
            </a:r>
          </a:p>
          <a:p>
            <a:endParaRPr lang="en-US"/>
          </a:p>
          <a:p>
            <a:r>
              <a:rPr lang="en-US"/>
              <a:t>Graphs/Visualizations:</a:t>
            </a:r>
          </a:p>
          <a:p>
            <a:r>
              <a:rPr lang="en-US"/>
              <a:t>Various graphs and visualizations are used to analyze the model’s performance. A confusion matrix is used to visualize correct and incorrect predictions of rainfall and non-rainfall cases. Accuracy and loss graphs help in understanding the model’s learning behavior.</a:t>
            </a:r>
          </a:p>
          <a:p>
            <a:r>
              <a:rPr lang="en-US"/>
              <a:t>Feature distribution plots and correlation graphs are used to understand the relationship between weather parameters and rainfall. Prediction graphs help compare actual rainfall values with predicted results, making the performance of the model easy to interpret.</a:t>
            </a:r>
          </a:p>
          <a:p>
            <a:br>
              <a:rPr lang="en-US"/>
            </a:br>
            <a:endParaRPr lang="en-US"/>
          </a:p>
        </p:txBody>
      </p:sp>
      <p:sp>
        <p:nvSpPr>
          <p:cNvPr id="8" name="TextBox 7">
            <a:extLst>
              <a:ext uri="{FF2B5EF4-FFF2-40B4-BE49-F238E27FC236}">
                <a16:creationId xmlns:a16="http://schemas.microsoft.com/office/drawing/2014/main" id="{53DE1687-7F69-BD4F-0FC1-3AFCEDB18C67}"/>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Result</a:t>
            </a:r>
          </a:p>
        </p:txBody>
      </p:sp>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628650" y="1825625"/>
            <a:ext cx="1156335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a:t>Insights:</a:t>
            </a:r>
            <a:endParaRPr lang="en-US"/>
          </a:p>
          <a:p>
            <a:r>
              <a:rPr lang="en-US"/>
              <a:t>The SVM model can capture non-linear relationships in weather data effectively.</a:t>
            </a:r>
          </a:p>
          <a:p>
            <a:r>
              <a:rPr lang="en-US"/>
              <a:t>Features like temperature, humidity, and pressure were significant predictors of rainfall.</a:t>
            </a:r>
          </a:p>
          <a:p>
            <a:r>
              <a:rPr lang="en-US"/>
              <a:t>Model accuracy improved after feature scaling and hyperparameter tuning.</a:t>
            </a:r>
          </a:p>
          <a:p>
            <a:r>
              <a:rPr lang="en-US"/>
              <a:t>Predictions are more reliable for moderate rainfall, but extreme rainfall events may be less accurate.</a:t>
            </a:r>
          </a:p>
          <a:p>
            <a:endParaRPr lang="en-US" b="1"/>
          </a:p>
          <a:p>
            <a:endParaRPr lang="en-US" b="1"/>
          </a:p>
          <a:p>
            <a:endParaRPr lang="en-US" b="1"/>
          </a:p>
          <a:p>
            <a:r>
              <a:rPr lang="en-US" b="1"/>
              <a:t>Challenges Faced:</a:t>
            </a:r>
            <a:endParaRPr lang="en-US"/>
          </a:p>
          <a:p>
            <a:r>
              <a:rPr lang="en-US"/>
              <a:t>Missing or inconsistent data in weather datasets required preprocessing.</a:t>
            </a:r>
          </a:p>
          <a:p>
            <a:r>
              <a:rPr lang="en-US"/>
              <a:t>Selecting the right kernel (linear, RBF, polynomial) for SVM to balance bias and variance.</a:t>
            </a:r>
          </a:p>
          <a:p>
            <a:r>
              <a:rPr lang="en-US"/>
              <a:t>Computational intensity for large datasets due to SVM’s complexity.</a:t>
            </a:r>
          </a:p>
          <a:p>
            <a:r>
              <a:rPr lang="en-US"/>
              <a:t>Handling class imbalance if the dataset has fewer rainfall events compared to no-rain days.</a:t>
            </a:r>
          </a:p>
          <a:p>
            <a:endParaRPr lang="en-US"/>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Discussion</a:t>
            </a:r>
            <a:endParaRPr lang="en-IN" sz="200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0" y="1477926"/>
            <a:ext cx="12192000" cy="538007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a:p>
        </p:txBody>
      </p:sp>
      <p:sp>
        <p:nvSpPr>
          <p:cNvPr id="8" name="TextBox 7">
            <a:extLst>
              <a:ext uri="{FF2B5EF4-FFF2-40B4-BE49-F238E27FC236}">
                <a16:creationId xmlns:a16="http://schemas.microsoft.com/office/drawing/2014/main" id="{03015779-0D87-0B8F-666B-1C962E184FD1}"/>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Solution Impact</a:t>
            </a:r>
            <a:endParaRPr lang="en-IN" sz="2000">
              <a:solidFill>
                <a:srgbClr val="213163"/>
              </a:solidFill>
            </a:endParaRPr>
          </a:p>
        </p:txBody>
      </p:sp>
      <p:sp>
        <p:nvSpPr>
          <p:cNvPr id="9" name="TextBox 8">
            <a:extLst>
              <a:ext uri="{FF2B5EF4-FFF2-40B4-BE49-F238E27FC236}">
                <a16:creationId xmlns:a16="http://schemas.microsoft.com/office/drawing/2014/main" id="{899D9584-7004-4366-1C38-66384EDA4AF6}"/>
              </a:ext>
            </a:extLst>
          </p:cNvPr>
          <p:cNvSpPr txBox="1"/>
          <p:nvPr/>
        </p:nvSpPr>
        <p:spPr>
          <a:xfrm>
            <a:off x="0" y="1477926"/>
            <a:ext cx="12191999" cy="4402167"/>
          </a:xfrm>
          <a:prstGeom prst="rect">
            <a:avLst/>
          </a:prstGeom>
          <a:noFill/>
        </p:spPr>
        <p:txBody>
          <a:bodyPr wrap="square">
            <a:spAutoFit/>
          </a:bodyPr>
          <a:lstStyle/>
          <a:p>
            <a:pPr>
              <a:buNone/>
            </a:pPr>
            <a:r>
              <a:rPr lang="en-US" b="1"/>
              <a:t>Sustainability Impact:</a:t>
            </a:r>
            <a:br>
              <a:rPr lang="en-US"/>
            </a:br>
            <a:r>
              <a:rPr lang="en-US"/>
              <a:t>The solution can benefit the environment and contribute to sustainability goals by optimizing resource usage, reducing waste, and minimizing emissions. For example, by predicting rainfall accurately (in the context of agriculture or water management), it can help farmers use water more efficiently, reduce unnecessary irrigation, and lower energy consumption. Additionally, data-driven solutions can support renewable energy planning, decrease reliance on non-renewable resources, and promote eco-friendly practices. Overall, it aligns with goals like responsible consumption, climate action, and sustainable agriculture.</a:t>
            </a:r>
          </a:p>
          <a:p>
            <a:pPr>
              <a:buNone/>
            </a:pPr>
            <a:endParaRPr lang="en-US" b="1"/>
          </a:p>
          <a:p>
            <a:pPr>
              <a:buNone/>
            </a:pPr>
            <a:r>
              <a:rPr lang="en-US" b="1"/>
              <a:t>Practical Implementation:</a:t>
            </a:r>
            <a:br>
              <a:rPr lang="en-US"/>
            </a:br>
            <a:r>
              <a:rPr lang="en-US"/>
              <a:t>The solution can be applied in real-world settings through integration with existing systems and decision-making processes. In agriculture, it can be embedded into smart irrigation systems to automate water usage based on predicted rainfall. In energy management, it can support renewable energy allocation by forecasting weather-dependent production. The model can be deployed as a software application, cloud service, or mobile tool that provides actionable insights to farmers, environmental planners, or utility companies, enabling timely, data-driven decisions.</a:t>
            </a: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a:solidFill>
                  <a:srgbClr val="213163"/>
                </a:solidFill>
              </a:rPr>
              <a:t>Conclusion</a:t>
            </a:r>
            <a:endParaRPr lang="en-IN" sz="200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9"/>
            <a:ext cx="6764644" cy="5734903"/>
          </a:xfrm>
          <a:prstGeom prst="rect">
            <a:avLst/>
          </a:prstGeom>
          <a:noFill/>
        </p:spPr>
        <p:txBody>
          <a:bodyPr wrap="square" rtlCol="0">
            <a:spAutoFit/>
          </a:bodyPr>
          <a:lstStyle/>
          <a:p>
            <a:r>
              <a:rPr lang="en-US" sz="1800" b="1"/>
              <a:t>Summary:</a:t>
            </a:r>
            <a:br>
              <a:rPr lang="en-US" sz="1800"/>
            </a:br>
            <a:r>
              <a:rPr lang="en-US" sz="1800"/>
              <a:t>The solution demonstrates that data-driven modeling, such as using machine learning (e.g., SVM), can effectively predict rainfall or optimize related processes. It provides accurate forecasts, reduces resource wastage, and supports informed decision-making. Overall, the case study shows that the model is effective in enhancing efficiency, supporting sustainability, and providing actionable insights for real-world applications like agriculture, water management, or energy planning.</a:t>
            </a:r>
          </a:p>
          <a:p>
            <a:r>
              <a:rPr lang="en-US" sz="1800" b="1"/>
              <a:t>Future Work:</a:t>
            </a:r>
            <a:br>
              <a:rPr lang="en-US" sz="1800"/>
            </a:br>
            <a:r>
              <a:rPr lang="en-US" sz="1800"/>
              <a:t>Future improvements could include:</a:t>
            </a:r>
          </a:p>
          <a:p>
            <a:r>
              <a:rPr lang="en-US" sz="1800"/>
              <a:t>Using larger and more diverse datasets to improve prediction accuracy.</a:t>
            </a:r>
          </a:p>
          <a:p>
            <a:r>
              <a:rPr lang="en-US" sz="1800"/>
              <a:t>Exploring advanced models like deep learning or ensemble methods for better performance.</a:t>
            </a:r>
          </a:p>
          <a:p>
            <a:r>
              <a:rPr lang="en-US" sz="1800"/>
              <a:t>Integrating real-time data for dynamic forecasting and decision-making.</a:t>
            </a:r>
          </a:p>
          <a:p>
            <a:endParaRPr lang="en-US" sz="1800"/>
          </a:p>
          <a:p>
            <a:pPr>
              <a:spcAft>
                <a:spcPts val="800"/>
              </a:spcAft>
            </a:pPr>
            <a:endParaRPr lang="en-US" sz="1800">
              <a:latin typeface="+mn-lt"/>
            </a:endParaRPr>
          </a:p>
          <a:p>
            <a:pPr marL="228600" indent="-228600">
              <a:spcAft>
                <a:spcPts val="800"/>
              </a:spcAft>
              <a:buFont typeface="Arial" panose="020B0604020202020204" pitchFamily="34" charset="0"/>
              <a:buChar char="•"/>
            </a:pPr>
            <a:endParaRPr lang="en-US" sz="1800">
              <a:latin typeface="+mn-lt"/>
            </a:endParaRP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a:solidFill>
                  <a:srgbClr val="213163"/>
                </a:solidFill>
              </a:rPr>
              <a:t>References</a:t>
            </a:r>
            <a:endParaRPr lang="en-IN" sz="200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0" y="723015"/>
            <a:ext cx="12193917" cy="6627455"/>
          </a:xfrm>
          <a:prstGeom prst="rect">
            <a:avLst/>
          </a:prstGeom>
          <a:noFill/>
        </p:spPr>
        <p:txBody>
          <a:bodyPr wrap="square" rtlCol="0">
            <a:spAutoFit/>
          </a:bodyPr>
          <a:lstStyle/>
          <a:p>
            <a:endParaRPr lang="en-US" sz="2000" b="1"/>
          </a:p>
          <a:p>
            <a:endParaRPr lang="en-US" sz="2000" b="1"/>
          </a:p>
          <a:p>
            <a:r>
              <a:rPr lang="en-US" sz="2000" b="1"/>
              <a:t>References :</a:t>
            </a:r>
          </a:p>
          <a:p>
            <a:r>
              <a:rPr lang="en-US" sz="2000" b="1"/>
              <a:t>Datasets &amp; Weather Data</a:t>
            </a:r>
            <a:endParaRPr lang="en-US" sz="2000"/>
          </a:p>
          <a:p>
            <a:r>
              <a:rPr lang="en-US" sz="2000" b="1"/>
              <a:t>Kaggle – Rainfall in Australia Dataset</a:t>
            </a:r>
            <a:r>
              <a:rPr lang="en-US" sz="2000"/>
              <a:t> – 10 years of daily rainfall data</a:t>
            </a:r>
          </a:p>
          <a:p>
            <a:r>
              <a:rPr lang="en-US" sz="2000">
                <a:hlinkClick r:id="rId3"/>
              </a:rPr>
              <a:t>https://www.kaggle.com/datasets/jsphyg/weather-dataset-rattle-package</a:t>
            </a:r>
            <a:endParaRPr lang="en-US" sz="2000"/>
          </a:p>
          <a:p>
            <a:r>
              <a:rPr lang="en-US" sz="2000" b="1"/>
              <a:t>NOAA Climate Data Online</a:t>
            </a:r>
            <a:r>
              <a:rPr lang="en-US" sz="2000"/>
              <a:t> – Official U.S. weather &amp; rainfall records</a:t>
            </a:r>
            <a:br>
              <a:rPr lang="en-US" sz="2000"/>
            </a:br>
            <a:r>
              <a:rPr lang="en-US" sz="2000">
                <a:hlinkClick r:id="rId4"/>
              </a:rPr>
              <a:t>https://www.ncei.noaa.gov/access</a:t>
            </a:r>
            <a:endParaRPr lang="en-US" sz="2000"/>
          </a:p>
          <a:p>
            <a:endParaRPr lang="en-US" sz="2000"/>
          </a:p>
          <a:p>
            <a:endParaRPr lang="en-US" sz="2000"/>
          </a:p>
          <a:p>
            <a:r>
              <a:rPr lang="en-US" sz="2000" b="1"/>
              <a:t>Tools &amp; Software:</a:t>
            </a:r>
            <a:br>
              <a:rPr lang="en-US" sz="2000"/>
            </a:br>
            <a:r>
              <a:rPr lang="en-US" sz="2000"/>
              <a:t>8. </a:t>
            </a:r>
            <a:r>
              <a:rPr lang="en-US" sz="2000" b="1"/>
              <a:t>Google </a:t>
            </a:r>
            <a:r>
              <a:rPr lang="en-US" sz="2000" b="1" err="1"/>
              <a:t>Colab</a:t>
            </a:r>
            <a:r>
              <a:rPr lang="en-US" sz="2000" b="1"/>
              <a:t> (Free Cloud Coding Environment)</a:t>
            </a:r>
            <a:br>
              <a:rPr lang="en-US" sz="2000"/>
            </a:br>
            <a:r>
              <a:rPr lang="en-US" sz="2000">
                <a:hlinkClick r:id="rId5"/>
              </a:rPr>
              <a:t>https://colab.research.google.com/</a:t>
            </a:r>
            <a:endParaRPr lang="en-US" sz="2000"/>
          </a:p>
          <a:p>
            <a:r>
              <a:rPr lang="en-US" sz="2000" b="1"/>
              <a:t>Python Official Website</a:t>
            </a:r>
            <a:r>
              <a:rPr lang="en-US" sz="2000"/>
              <a:t> (For installation &amp; docs)</a:t>
            </a:r>
            <a:br>
              <a:rPr lang="en-US" sz="2000"/>
            </a:br>
            <a:r>
              <a:rPr lang="en-US" sz="2000">
                <a:hlinkClick r:id="rId6"/>
              </a:rPr>
              <a:t>https://www.python.org/</a:t>
            </a:r>
            <a:endParaRPr lang="en-US" sz="2000"/>
          </a:p>
          <a:p>
            <a:r>
              <a:rPr lang="en-US" sz="2000" b="1"/>
              <a:t>GitHub – Example Weather Prediction Project Repository</a:t>
            </a:r>
            <a:br>
              <a:rPr lang="en-US" sz="2000"/>
            </a:br>
            <a:r>
              <a:rPr lang="en-US" sz="2000">
                <a:hlinkClick r:id="rId7"/>
              </a:rPr>
              <a:t>https://github.com/topics/weather-prediction</a:t>
            </a:r>
            <a:endParaRPr lang="en-US" sz="2000"/>
          </a:p>
          <a:p>
            <a:endParaRPr lang="en-US" sz="2000"/>
          </a:p>
          <a:p>
            <a:endParaRPr lang="en-US" sz="2000"/>
          </a:p>
          <a:p>
            <a:pPr>
              <a:spcAft>
                <a:spcPts val="800"/>
              </a:spcAft>
            </a:pPr>
            <a:endParaRPr lang="en-US" sz="2000"/>
          </a:p>
          <a:p>
            <a:pPr marL="228600" indent="-228600">
              <a:spcAft>
                <a:spcPts val="800"/>
              </a:spcAft>
              <a:buFont typeface="Arial" panose="020B0604020202020204" pitchFamily="34" charset="0"/>
              <a:buChar char="•"/>
            </a:pPr>
            <a:endParaRPr lang="en-US" sz="1800">
              <a:latin typeface="+mn-lt"/>
            </a:endParaRP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a:solidFill>
                  <a:srgbClr val="213163"/>
                </a:solidFill>
              </a:rPr>
              <a:t>Thank You</a:t>
            </a:r>
            <a:endParaRPr lang="en-US" sz="500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A6559A34-456E-49A1-8157-9E3D18BFAD36}">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9162bd5b-4ed9-4da3-b376-05204580ba3f"/>
    <ds:schemaRef ds:uri="http://schemas.microsoft.com/office/2006/metadata/properties"/>
    <ds:schemaRef ds:uri="c0fa2617-96bd-425d-8578-e93563fe37c5"/>
    <ds:schemaRef ds:uri="http://www.w3.org/XML/1998/namespace"/>
  </ds:schemaRefs>
</ds:datastoreItem>
</file>

<file path=customXml/itemProps3.xml><?xml version="1.0" encoding="utf-8"?>
<ds:datastoreItem xmlns:ds="http://schemas.openxmlformats.org/officeDocument/2006/customXml" ds:itemID="{7D9E5D5E-A365-4A49-8140-C8CC82A61608}">
  <ds:schemaRefs>
    <ds:schemaRef ds:uri="http://schemas.microsoft.com/office/2006/metadata/contentType"/>
    <ds:schemaRef ds:uri="http://schemas.microsoft.com/office/2006/metadata/properties/metaAttributes"/>
    <ds:schemaRef ds:uri="http://www.w3.org/2000/xmlns/"/>
    <ds:schemaRef ds:uri="http://www.w3.org/2001/XMLSchema"/>
    <ds:schemaRef ds:uri="9162bd5b-4ed9-4da3-b376-05204580ba3f"/>
    <ds:schemaRef ds:uri="c0fa2617-96bd-425d-8578-e93563fe37c5"/>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1435</Words>
  <Application>Microsoft Office PowerPoint</Application>
  <PresentationFormat>Widescreen</PresentationFormat>
  <Paragraphs>103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Bell MT</vt:lpstr>
      <vt:lpstr>Bodoni MT</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Admin</cp:lastModifiedBy>
  <cp:revision>4</cp:revision>
  <dcterms:modified xsi:type="dcterms:W3CDTF">2026-01-09T05:32:26Z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